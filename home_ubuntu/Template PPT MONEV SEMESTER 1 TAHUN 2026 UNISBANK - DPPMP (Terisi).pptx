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74" r:id="rId3"/>
    <p:sldId id="281" r:id="rId4"/>
    <p:sldId id="276" r:id="rId5"/>
    <p:sldId id="282" r:id="rId6"/>
    <p:sldId id="283" r:id="rId7"/>
    <p:sldId id="287" r:id="rId8"/>
    <p:sldId id="284" r:id="rId9"/>
    <p:sldId id="28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338" autoAdjust="0"/>
    <p:restoredTop sz="94660"/>
  </p:normalViewPr>
  <p:slideViewPr>
    <p:cSldViewPr snapToGrid="0">
      <p:cViewPr varScale="1">
        <p:scale>
          <a:sx n="74" d="100"/>
          <a:sy n="74" d="100"/>
        </p:scale>
        <p:origin x="40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9688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547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0519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992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047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833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093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280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391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154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74621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3506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000" dirty="0" smtClean="0"/>
              <a:t>MONITORING DAN EVALUASI RKAT SEMESTER 1 TAHUN </a:t>
            </a:r>
            <a:r>
              <a:rPr lang="en-US" sz="6000" dirty="0" smtClean="0"/>
              <a:t>2026 UNIVERSITAS STIKUBANK</a:t>
            </a:r>
            <a:endParaRPr lang="en-US"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UNIT KERJA : Direktorat Penelitian, Pengabdian Masyarakat, dan Publikasi (DPPMP)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1604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Isi </a:t>
            </a:r>
            <a:r>
              <a:rPr lang="en-US" dirty="0" err="1" smtClean="0"/>
              <a:t>paparan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2081719"/>
            <a:ext cx="9601196" cy="3794149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EXECUTIVE MATRIX SUMMARY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CAPAIAN PROKER SEMESTER I TAHUN 2026</a:t>
            </a:r>
            <a:endParaRPr lang="en-US" sz="28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FAKTOR-FAKTOR PENDUKUNG KEBERHASILAN</a:t>
            </a:r>
            <a:endParaRPr lang="en-US" sz="28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FAKTOR PENGHAMBAT PELAKSANAAN PROKER</a:t>
            </a:r>
            <a:endParaRPr lang="en-US" sz="28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MATRIX RISIKO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RENCANA PERBAIKAN SEMESTER II TAHUN 2026</a:t>
            </a:r>
            <a:endParaRPr lang="en-US" sz="28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RENCANA KERJA DAN ANGGARAN PERUBAHAN (RKAP) SEMESTER 2 TAHUN 2026</a:t>
            </a:r>
            <a:endParaRPr lang="en-US" sz="2800" dirty="0" smtClean="0"/>
          </a:p>
          <a:p>
            <a:pPr marL="0" indent="0">
              <a:buNone/>
            </a:pPr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2782063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EXECUTIVE MATRIX SUMMARY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6368222"/>
              </p:ext>
            </p:extLst>
          </p:nvPr>
        </p:nvGraphicFramePr>
        <p:xfrm>
          <a:off x="1096963" y="1846263"/>
          <a:ext cx="10058400" cy="4022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2822"/>
                <a:gridCol w="5792777"/>
                <a:gridCol w="3352799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NO</a:t>
                      </a:r>
                      <a:endParaRPr lang="en-US" dirty="0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ASPEK PERHATIAN</a:t>
                      </a:r>
                      <a:endParaRPr lang="en-US" dirty="0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TINGKAT CAPAIAN</a:t>
                      </a:r>
                      <a:endParaRPr lang="en-US" dirty="0"/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MS Mincho"/>
                          <a:cs typeface="Arial" panose="020B0604020202020204" pitchFamily="34" charset="0"/>
                        </a:rPr>
                        <a:t>Kinerja Program</a:t>
                      </a:r>
                    </a:p>
                  </a:txBody>
                  <a:tcPr marL="70966" marR="70966" marT="0" marB="0"/>
                </a:tc>
                <a:tc>
                  <a:txBody>
                    <a:bodyPr/>
                    <a:lstStyle/>
                    <a:p>
                      <a:r>
                        <a:t>46%</a:t>
                      </a:r>
                      <a:endParaRPr 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MS Mincho"/>
                          <a:cs typeface="Arial" panose="020B0604020202020204" pitchFamily="34" charset="0"/>
                        </a:rPr>
                        <a:t>Serapan Anggaran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MS Mincho"/>
                        <a:cs typeface="Arial" panose="020B0604020202020204" pitchFamily="34" charset="0"/>
                      </a:endParaRPr>
                    </a:p>
                  </a:txBody>
                  <a:tcPr marL="70966" marR="70966" marT="0" marB="0"/>
                </a:tc>
                <a:tc>
                  <a:txBody>
                    <a:bodyPr/>
                    <a:lstStyle/>
                    <a:p>
                      <a:r>
                        <a:t>10%</a:t>
                      </a:r>
                      <a:endParaRPr 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MS Mincho"/>
                          <a:cs typeface="Arial" panose="020B0604020202020204" pitchFamily="34" charset="0"/>
                        </a:rPr>
                        <a:t>KPI</a:t>
                      </a:r>
                    </a:p>
                  </a:txBody>
                  <a:tcPr marL="70966" marR="70966" marT="0" marB="0"/>
                </a:tc>
                <a:tc>
                  <a:txBody>
                    <a:bodyPr/>
                    <a:lstStyle/>
                    <a:p>
                      <a:r>
                        <a:t>55%</a:t>
                      </a:r>
                      <a:endParaRPr 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MS Mincho"/>
                          <a:cs typeface="Arial" panose="020B0604020202020204" pitchFamily="34" charset="0"/>
                        </a:rPr>
                        <a:t>Program Selesai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MS Mincho"/>
                        <a:cs typeface="Arial" panose="020B0604020202020204" pitchFamily="34" charset="0"/>
                      </a:endParaRPr>
                    </a:p>
                  </a:txBody>
                  <a:tcPr marL="70966" marR="70966" marT="0" marB="0"/>
                </a:tc>
                <a:tc>
                  <a:txBody>
                    <a:bodyPr/>
                    <a:lstStyle/>
                    <a:p>
                      <a:r>
                        <a:t>1 dari 12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MS Mincho"/>
                          <a:cs typeface="Arial" panose="020B0604020202020204" pitchFamily="34" charset="0"/>
                        </a:rPr>
                        <a:t>Program Terlambat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MS Mincho"/>
                        <a:cs typeface="Arial" panose="020B0604020202020204" pitchFamily="34" charset="0"/>
                      </a:endParaRPr>
                    </a:p>
                  </a:txBody>
                  <a:tcPr marL="70966" marR="70966" marT="0" marB="0"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ea typeface="MS Mincho"/>
                          <a:cs typeface="Arial" panose="020B0604020202020204" pitchFamily="34" charset="0"/>
                        </a:rPr>
                        <a:t>Risiko Tinggi</a:t>
                      </a:r>
                    </a:p>
                  </a:txBody>
                  <a:tcPr marL="70966" marR="70966" marT="0" marB="0"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ea typeface="MS Mincho"/>
                          <a:cs typeface="Arial" panose="020B0604020202020204" pitchFamily="34" charset="0"/>
                        </a:rPr>
                        <a:t>Isu Strategis</a:t>
                      </a:r>
                    </a:p>
                  </a:txBody>
                  <a:tcPr marL="70966" marR="70966" marT="0" marB="0"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MS Mincho"/>
                          <a:cs typeface="Arial" panose="020B0604020202020204" pitchFamily="34" charset="0"/>
                        </a:rPr>
                        <a:t>Rekomendasi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MS Mincho"/>
                        <a:cs typeface="Arial" panose="020B0604020202020204" pitchFamily="34" charset="0"/>
                      </a:endParaRPr>
                    </a:p>
                  </a:txBody>
                  <a:tcPr marL="70966" marR="70966" marT="0" marB="0"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/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endParaRPr 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6750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296215"/>
            <a:ext cx="9720072" cy="1030310"/>
          </a:xfrm>
        </p:spPr>
        <p:txBody>
          <a:bodyPr/>
          <a:lstStyle/>
          <a:p>
            <a:r>
              <a:rPr lang="en-US" dirty="0" smtClean="0"/>
              <a:t>CAPAIAN PROKER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0704217"/>
              </p:ext>
            </p:extLst>
          </p:nvPr>
        </p:nvGraphicFramePr>
        <p:xfrm>
          <a:off x="1023938" y="1133343"/>
          <a:ext cx="9614011" cy="52318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8868"/>
                <a:gridCol w="1760618"/>
                <a:gridCol w="2564679"/>
                <a:gridCol w="2273554"/>
                <a:gridCol w="1996292"/>
              </a:tblGrid>
              <a:tr h="4756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NAMA PROKER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ANGGARAN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REALISASI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SERAPAN ANGGARAN (%)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KKN Tematik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Rp 200.000.000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t>Rp 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Akreditasi Jurnal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Rp 2.500.000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Pengelolaan Jurnal Internal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Rp 5.000.000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870.000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17%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Reviewer Pn dan Pm Eksternal (Kegiatan Monev)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Rp 7.800.000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Maintenance SIRISBANK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Rp 2.500.000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Pembayaran DOI Artikel Jurnal dan Iuran RJI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Rp 2.500.000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Asosiasi FORKOM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Rp 2.500.000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2.550.000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102%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Workshop dan Klinik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Rp 6.000.000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1.084.000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18%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Insentif Hak Cipta, Buku dll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Rp 8.640.000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2.160.000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25%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Insentif Publikasi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Rp 66.600.000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23.030.000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35%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Pengabdian kepada Masyarakat Internal dan Kerjasama Internasional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Rp 56.000.000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5.000.000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9%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Penelitian Internal dan Kerjasama Internasional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Rp 140.000.000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17.500.000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13%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TOTAL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Rp 500.040.000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52.194.000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10%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9897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296215"/>
            <a:ext cx="9720072" cy="708337"/>
          </a:xfrm>
        </p:spPr>
        <p:txBody>
          <a:bodyPr>
            <a:normAutofit/>
          </a:bodyPr>
          <a:lstStyle/>
          <a:p>
            <a:r>
              <a:rPr lang="en-US" sz="4000" dirty="0" smtClean="0"/>
              <a:t>FAKTOR PENDUKUNG KEBERHASILAN PROKER</a:t>
            </a:r>
            <a:endParaRPr lang="en-US" sz="4000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2782301"/>
              </p:ext>
            </p:extLst>
          </p:nvPr>
        </p:nvGraphicFramePr>
        <p:xfrm>
          <a:off x="1023938" y="1133343"/>
          <a:ext cx="9614011" cy="5497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983"/>
                <a:gridCol w="1987503"/>
                <a:gridCol w="2564679"/>
                <a:gridCol w="2273554"/>
                <a:gridCol w="1996292"/>
              </a:tblGrid>
              <a:tr h="4756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NAMA PROKER YANG BERHASIL DILAKSANAKAN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INDIKATOR KEBERHASILAN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SERAPAN ANGGARAN (%)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FAKTOR PENDUKUNG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Asosiasi FORKOM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Terlaksana (status Tercapai)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t>102%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Keanggotaan forum koordinasi LPPM terlaksana penuh; perlu verifikasi karena realisasi melebihi pagu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Pengelolaan Jurnal Internal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Terlaksana sebagian, Sangat Efisien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17%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Realisasi berjalan bertahap sesuai kebutuhan pengelolaan jurnal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Workshop dan Klinik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Terlaksana sebagian, Sangat Efisien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18%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Kegiatan peningkatan kapasitas dosen/peneliti berjalan bertahap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Insentif Hak Cipta, Buku dll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Terlaksana sebagian, Sangat Efisien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25%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Penyaluran insentif HKI berjalan sesuai rencana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Insentif Publikasi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Terlaksana sebagian, Sangat Efisien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35%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Penyaluran insentif publikasi tertinggi secara nominal, sesuai rencana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Pengabdian kepada Masyarakat Internal dan Kerjasama Internasional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Terlaksana sebagian, Sangat Efisien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9%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Kegiatan mulai berjalan sejak Mei 2026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Penelitian Internal dan Kerjasama Internasional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Terlaksana sebagian, Sangat Efisien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13%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Kegiatan mulai berjalan sejak Mei 2026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8808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296215"/>
            <a:ext cx="9720072" cy="669700"/>
          </a:xfrm>
        </p:spPr>
        <p:txBody>
          <a:bodyPr>
            <a:normAutofit/>
          </a:bodyPr>
          <a:lstStyle/>
          <a:p>
            <a:r>
              <a:rPr lang="en-US" sz="4000" dirty="0" smtClean="0"/>
              <a:t>FAKTOR PENGHAMBAT PELAKSANAAN PROKER</a:t>
            </a:r>
            <a:endParaRPr lang="en-US" sz="4000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8136898"/>
              </p:ext>
            </p:extLst>
          </p:nvPr>
        </p:nvGraphicFramePr>
        <p:xfrm>
          <a:off x="1023938" y="1133343"/>
          <a:ext cx="9614011" cy="5497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983"/>
                <a:gridCol w="1987503"/>
                <a:gridCol w="2564679"/>
                <a:gridCol w="2273554"/>
                <a:gridCol w="1996292"/>
              </a:tblGrid>
              <a:tr h="4756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NAMA PROKER YANG GAGAL</a:t>
                      </a:r>
                      <a:r>
                        <a:rPr lang="en-US" sz="16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DILAKSANAKAN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INDIKATOR KEBERHASILAN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SERAPAN ANGGARAN (%)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FAKTOR PENDUKUNG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KKN Tematik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Belum jatuh tempo pelaksanaan (Agustus 2026)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t>0%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Pelaksanaan belum jatuh tempo, pencairan belum dilakukan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Akreditasi Jurnal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Belum Tercapai / terlambat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Waktu pelaksanaan (Juni 2026) telah lewat namun realisasi belum tercatat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Reviewer Pn dan Pm Eksternal (Kegiatan Monev)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Belum jatuh tempo pelaksanaan (November 2026)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Pelaksanaan belum jatuh tempo, pencairan belum dilakukan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Maintenance SIRISBANK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Belum jatuh tempo pelaksanaan (Desember 2026)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Kegiatan rutin, pencairan belum dilakukan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Pembayaran DOI Artikel Jurnal dan Iuran RJI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Belum Tercapai / terlambat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Waktu pelaksanaan (Februari 2026) telah lewat namun realisasi belum tercatat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4203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MATRIX RISIKO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7781111"/>
              </p:ext>
            </p:extLst>
          </p:nvPr>
        </p:nvGraphicFramePr>
        <p:xfrm>
          <a:off x="1096963" y="1846263"/>
          <a:ext cx="10058400" cy="4022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  <a:gridCol w="1676400"/>
                <a:gridCol w="1676400"/>
                <a:gridCol w="1676400"/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 smtClean="0"/>
                        <a:t>RISIKO</a:t>
                      </a:r>
                      <a:endParaRPr lang="en-US" dirty="0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PROBABILITAS</a:t>
                      </a:r>
                      <a:endParaRPr lang="en-US" dirty="0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DAMPAK</a:t>
                      </a:r>
                      <a:endParaRPr lang="en-US" dirty="0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LEVEL</a:t>
                      </a:r>
                      <a:endParaRPr lang="en-US" dirty="0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MITIGASI</a:t>
                      </a:r>
                      <a:endParaRPr lang="en-US" dirty="0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PIS</a:t>
                      </a:r>
                      <a:endParaRPr lang="en-US" dirty="0"/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Keuangan: keterlambatan pencatatan pencairan anggaran pada program berskor prioritas tinggi (Skor 15), serapan keseluruhan baru 10%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Tinggi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Tinggi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Merah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Penertiban pelaporan realisasi anggaran secara berkala (bulanan) ke bagian keuangan universitas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Direktur DPPMP</a:t>
                      </a:r>
                      <a:endParaRPr lang="en-US"/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Reputasi/Publikasi: keterlambatan proses akreditasi Jurnal Internal dan pengelolaan DOI/iuran RJI berpotensi menghambat indeksasi dan reputasi ilmiah institusi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Sedang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Tinggi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Kuning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Percepatan proses akreditasi jurnal dan penertiban pembayaran DOI/iuran RJI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Direktur DPPMP</a:t>
                      </a:r>
                      <a:endParaRPr lang="en-US"/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SDM/Riset: keterbatasan jumlah reviewer eksternal pada periode puncak monitoring dan evaluasi penelitian/pengabdian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Sedang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Sedang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Kuning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Penjadwalan reviewer lebih awal dan penambahan mitra reviewer eksternal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Direktur DPPMP</a:t>
                      </a:r>
                      <a:endParaRPr lang="en-US"/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Data: anomali input anggaran pada sistem Renop (realisasi Pengelolaan Jurnal Internal tercatat tidak wajar; realisasi Asosiasi FORKOM melebihi pagu)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Sedang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Sedang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Kuning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Verifikasi berkala data RAB dan realisasi oleh admin Renop sebelum periode pelaporan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Direktur DPPMP</a:t>
                      </a:r>
                      <a:endParaRPr lang="en-US"/>
                    </a:p>
                  </a:txBody>
                  <a:tcPr marL="94621" marR="94621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0966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296215"/>
            <a:ext cx="9720072" cy="631064"/>
          </a:xfrm>
        </p:spPr>
        <p:txBody>
          <a:bodyPr>
            <a:normAutofit/>
          </a:bodyPr>
          <a:lstStyle/>
          <a:p>
            <a:r>
              <a:rPr lang="en-US" sz="4000" dirty="0" smtClean="0"/>
              <a:t>RENCANA PERBAIKAN SEMESTER 2 TAHUN 2026</a:t>
            </a:r>
            <a:endParaRPr lang="en-US" sz="4000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6439849"/>
              </p:ext>
            </p:extLst>
          </p:nvPr>
        </p:nvGraphicFramePr>
        <p:xfrm>
          <a:off x="1023938" y="1133343"/>
          <a:ext cx="9614011" cy="5253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983"/>
                <a:gridCol w="1987503"/>
                <a:gridCol w="2301162"/>
                <a:gridCol w="2537071"/>
                <a:gridCol w="1996292"/>
              </a:tblGrid>
              <a:tr h="4756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AGENDA PERBAIKAN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TARGET HASIL DAN WAKTU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INDIKATOR BERHASIL</a:t>
                      </a:r>
                      <a:r>
                        <a:rPr lang="en-US" sz="16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PERBAIKAN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PIC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Pengelolaan Jurnal Internal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Koreksi nilai realisasi pada sistem Renop (tercatat Rp870, seharusnya Rp870.000) - Semester II 2026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t>Nilai realisasi pada sistem Renop sesuai catatan keuangan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Admin Renop / Direktur DPPMP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Asosiasi FORKOM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Verifikasi realisasi yang melebihi anggaran disetujui (Rp2.550.000 dari pagu Rp2.500.000) - Semester II 2026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Kesesuaian nilai realisasi dengan pagu anggaran terverifikasi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Admin Renop / Direktur DPPMP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Akreditasi Jurnal dan Pembayaran DOI Artikel Jurnal/Iuran RJI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Percepatan pelaksanaan dan pelaporan realisasi karena waktu pelaksanaan telah lewat tanpa realisasi - Semester II 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Realisasi anggaran tercatat sesuai pelaksanaan kegiatan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Direktur DPPMP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5996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296215"/>
            <a:ext cx="9720072" cy="631064"/>
          </a:xfrm>
        </p:spPr>
        <p:txBody>
          <a:bodyPr>
            <a:normAutofit/>
          </a:bodyPr>
          <a:lstStyle/>
          <a:p>
            <a:r>
              <a:rPr lang="en-US" sz="4000" dirty="0" smtClean="0"/>
              <a:t>RENCANA KERJA DAN ANGGARAN PERUBAHAN</a:t>
            </a:r>
            <a:endParaRPr lang="en-US" sz="4000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0233192"/>
              </p:ext>
            </p:extLst>
          </p:nvPr>
        </p:nvGraphicFramePr>
        <p:xfrm>
          <a:off x="1023938" y="1133343"/>
          <a:ext cx="9614011" cy="5497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983"/>
                <a:gridCol w="2588654"/>
                <a:gridCol w="2305318"/>
                <a:gridCol w="1931764"/>
                <a:gridCol w="1996292"/>
              </a:tblGrid>
              <a:tr h="4756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NAMA PROKER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INDIKATOR KEBERHASILAN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ANGGARAN (%)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SASARAN DAN WAKTU PELAKSANAAN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KKN Tematik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Pelaksanaan terlaksana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t>Rp 200.000.000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Semester II 2026 (Agustus)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Reviewer Pn dan Pm Eksternal (Kegiatan Monev)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Reviewer terlaksana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7.800.000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Semester II 2026 (November)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Maintenance SIRISBANK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Sistem terpelihara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2.500.000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Semester II 2026 (Desember)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Workshop dan Klinik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Workshop terlaksana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6.000.000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Semester II 2026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Insentif Hak Cipta, Buku dll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Insentif tersalurkan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8.640.000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Semester II 2026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Insentif Publikasi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Insentif tersalurkan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66.600.000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Semester II 2026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Pengabdian kepada Masyarakat Internal dan Kerjasama Internasional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Program terlaksana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56.000.000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Semester II 2026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Penelitian Internal dan Kerjasama Internasional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Program terlaksana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140.000.000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Semester II 2026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1373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2068</TotalTime>
  <Words>270</Words>
  <Application>Microsoft Office PowerPoint</Application>
  <PresentationFormat>Widescreen</PresentationFormat>
  <Paragraphs>118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MS Mincho</vt:lpstr>
      <vt:lpstr>Times New Roman</vt:lpstr>
      <vt:lpstr>Retrospect</vt:lpstr>
      <vt:lpstr>MONITORING DAN EVALUASI RKAT SEMESTER 1 TAHUN 2026 UNIVERSITAS STIKUBANK</vt:lpstr>
      <vt:lpstr>Isi paparan</vt:lpstr>
      <vt:lpstr>EXECUTIVE MATRIX SUMMARY</vt:lpstr>
      <vt:lpstr>CAPAIAN PROKER</vt:lpstr>
      <vt:lpstr>FAKTOR PENDUKUNG KEBERHASILAN PROKER</vt:lpstr>
      <vt:lpstr>FAKTOR PENGHAMBAT PELAKSANAAN PROKER</vt:lpstr>
      <vt:lpstr>MATRIX RISIKO</vt:lpstr>
      <vt:lpstr>RENCANA PERBAIKAN SEMESTER 2 TAHUN 2026</vt:lpstr>
      <vt:lpstr>RENCANA KERJA DAN ANGGARAN PERUBAHAN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Bahan sharing</dc:title>
  <dc:creator>Windows User</dc:creator>
  <cp:lastModifiedBy>Windows User</cp:lastModifiedBy>
  <cp:revision>28</cp:revision>
  <dcterms:created xsi:type="dcterms:W3CDTF">2024-11-04T15:57:02Z</dcterms:created>
  <dcterms:modified xsi:type="dcterms:W3CDTF">2026-07-23T08:31:40Z</dcterms:modified>
</cp:coreProperties>
</file>